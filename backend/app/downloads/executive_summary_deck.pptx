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DIY CO. FULFILLMENT &amp; OTIF DIAGNOSTIC PLATFORM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Executive Strategy &amp; Operational Action Plan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Solving On-Time In-Full Drops, Financial Penalty Exposures &amp; Decision-Making Tooling Gaps</a:t>
            </a:r>
          </a:p>
          <a:p>
            <a:br/>
            <a:pPr>
              <a:defRPr sz="1200" i="1">
                <a:solidFill>
                  <a:srgbClr val="64748B"/>
                </a:solidFill>
              </a:defRPr>
            </a:pPr>
            <a:r>
              <a:t>Prepared for: Executive Leadership Team |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1. Business Objective &amp; Current Operational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2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🎯 Business Objective</a:t>
            </a:r>
          </a:p>
          <a:p>
            <a:r>
              <a:rPr sz="1200" b="1">
                <a:solidFill>
                  <a:srgbClr val="0284C7"/>
                </a:solidFill>
              </a:rPr>
              <a:t>• Protect Net Margin: </a:t>
            </a:r>
            <a:r>
              <a:rPr sz="1200" b="0">
                <a:solidFill>
                  <a:srgbClr val="1E293B"/>
                </a:solidFill>
              </a:rPr>
              <a:t>Recover +$1.04M in net operating profit (+4.2% margin expansion) by eliminating fulfillment penalties.</a:t>
            </a:r>
          </a:p>
          <a:p>
            <a:r>
              <a:rPr sz="1200" b="1">
                <a:solidFill>
                  <a:srgbClr val="0284C7"/>
                </a:solidFill>
              </a:rPr>
              <a:t>• Restore Retailer Trust: </a:t>
            </a:r>
            <a:r>
              <a:rPr sz="1200" b="0">
                <a:solidFill>
                  <a:srgbClr val="1E293B"/>
                </a:solidFill>
              </a:rPr>
              <a:t>Elevate On-Time In-Full (OTIF) compliance from baseline 48.2% to &gt;92% across major accounts.</a:t>
            </a:r>
          </a:p>
          <a:p>
            <a:r>
              <a:rPr sz="1200" b="1">
                <a:solidFill>
                  <a:srgbClr val="0284C7"/>
                </a:solidFill>
              </a:rPr>
              <a:t>• Automate Fulfillment Routing: </a:t>
            </a:r>
            <a:r>
              <a:rPr sz="1200" b="0">
                <a:solidFill>
                  <a:srgbClr val="1E293B"/>
                </a:solidFill>
              </a:rPr>
              <a:t>Transition from manual spreadsheet allocation to an automated, profit-optimizing engine with policy guardrails (+50% allocation caps).</a:t>
            </a:r>
          </a:p>
          <a:p>
            <a:r>
              <a:rPr sz="1200" b="1">
                <a:solidFill>
                  <a:srgbClr val="0284C7"/>
                </a:solidFill>
              </a:rPr>
              <a:t>• Eradicate Chargebacks: </a:t>
            </a:r>
            <a:r>
              <a:rPr sz="1200" b="0">
                <a:solidFill>
                  <a:srgbClr val="1E293B"/>
                </a:solidFill>
              </a:rPr>
              <a:t>Eliminate $634K+ in annual retailer penalties and carrier late delivery fines.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⚠️ Current Set of Challenges</a:t>
            </a:r>
          </a:p>
          <a:p>
            <a:r>
              <a:rPr sz="1200" b="1">
                <a:solidFill>
                  <a:srgbClr val="DC2626"/>
                </a:solidFill>
              </a:rPr>
              <a:t>• Severe OTIF Degradation: </a:t>
            </a:r>
            <a:r>
              <a:rPr sz="1200" b="0">
                <a:solidFill>
                  <a:srgbClr val="1E293B"/>
                </a:solidFill>
              </a:rPr>
              <a:t>Baseline OTIF compliance has dropped to 48.2% across Tier-1 retailers (Home Depot, Lowe's, Menards) and industrial accounts.</a:t>
            </a:r>
          </a:p>
          <a:p>
            <a:r>
              <a:rPr sz="1200" b="1">
                <a:solidFill>
                  <a:srgbClr val="DC2626"/>
                </a:solidFill>
              </a:rPr>
              <a:t>• Compounding Financial Fines: </a:t>
            </a:r>
            <a:r>
              <a:rPr sz="1200" b="0">
                <a:solidFill>
                  <a:srgbClr val="1E293B"/>
                </a:solidFill>
              </a:rPr>
              <a:t>$634,632 in annual penalty exposure driven by customer rejections ($450/day fines + 15% line item rejections).</a:t>
            </a:r>
          </a:p>
          <a:p>
            <a:r>
              <a:rPr sz="1200" b="1">
                <a:solidFill>
                  <a:srgbClr val="DC2626"/>
                </a:solidFill>
              </a:rPr>
              <a:t>• Siloed Network Visibility: </a:t>
            </a:r>
            <a:r>
              <a:rPr sz="1200" b="0">
                <a:solidFill>
                  <a:srgbClr val="1E293B"/>
                </a:solidFill>
              </a:rPr>
              <a:t>Zero real-time tracking across 6 operational milestones (Factory -&gt; Ocean -&gt; DC -&gt; Carrier Delivery).</a:t>
            </a:r>
          </a:p>
          <a:p>
            <a:r>
              <a:rPr sz="1200" b="1">
                <a:solidFill>
                  <a:srgbClr val="DC2626"/>
                </a:solidFill>
              </a:rPr>
              <a:t>• Sub-Optimal Carrier Allocation: </a:t>
            </a:r>
            <a:r>
              <a:rPr sz="1200" b="0">
                <a:solidFill>
                  <a:srgbClr val="1E293B"/>
                </a:solidFill>
              </a:rPr>
              <a:t>Carrier selection prioritizes cheap freight rates, inadvertently selecting carriers with high SLA breach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2. DIY's Tooling Gaps &amp; Impact on Executive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3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Gap 1: Missing Multi-Timestamp Audit Trail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Tooling Deficit: No end-to-end milestone tracking across Factory Planned, Actual Dispatch, Ocean Departure, DC Arrival, and Carrier Delivery SLA windows.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• Decision Impact: Impact: Management cannot identify whether OTIF drops stem from plant delays, port congestion, or carrier transit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Gap 2: Static Spreadsheet Allocation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Tooling Deficit: Order allocation and carrier selection are executed using legacy, static Excel models lacking optimization algorithms.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• Decision Impact: Impact: Logistics planners manually assign orders without evaluating carrier penalty risk vs freight shipping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Gap 3: Lack of Policy Guardrails &amp; Backlog Rules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Tooling Deficit: No automated controls to enforce allocation caps (+50% max order allocation) or integrate future backlog demand.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• Decision Impact: Impact: Inventory gets over-allocated to low-margin accounts while high-penalty retail orders suffer stockouts.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Gap 4: Reactive Fire-Fighting vs Prescriptive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Tooling Deficit: Tooling reports SLA failures after customer fines are billed, rather than predicting breaches before dispatch.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• Decision Impact: Impact: Decision-makers operate in hindsight, unable to re-route high-risk orders to express freight 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3. Root-Cause Failure Drivers Causing OTIF Drops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4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3200" b="1">
                <a:solidFill>
                  <a:srgbClr val="DC2626"/>
                </a:solidFill>
              </a:defRPr>
            </a:pPr>
            <a:r>
              <a:t>42.1%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Customer Dock Rejections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Packaging damage, incorrect ASN documentation, and barcode scanning mismatches at retailer receiving docks.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80160"/>
            <a:ext cx="25603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3200" b="1">
                <a:solidFill>
                  <a:srgbClr val="DC2626"/>
                </a:solidFill>
              </a:defRPr>
            </a:pPr>
            <a:r>
              <a:t>34.8%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Logistics &amp; Carrier Delays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Carrier transit window breaches, port ocean delays, and customs clearance holds across international gateways.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25603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14.6%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DC Out of Stock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Misallocated safety stock and inventory deficits across regional DCs (Atlanta, Inland Empire, Rotterdam).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280160"/>
            <a:ext cx="25603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8.5%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Factory Lead Overruns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Upstream component delays (lithium batteries, gears, motors) at Shenzhen and Vietnam manufacturing plants.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10698480" cy="2468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QUANTIFIED ANNUAL PENALTY LOSS BREAKDOWN BY ACCOUNT TIER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The Home Depot (US East / West): $245,200 annual fines • 2-day delivery SLA window • $450/day late fee + 15% dock rejection chargeback.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Lowe's Companies (US East): $182,400 annual fines • 2-day delivery SLA window • Barcode &amp; ASN documentation mismatches.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Kingfisher Group (EU Gateway): $112,850 annual fines • 3-day delivery SLA window • Ocean container transit delays.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Industrial Accounts (Grainger, Fastenal, Bechtel): $94,182 annual fines • 4-5 day SLA window • Regional carrier routing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4. Solution Capabilities: Descriptive, Predictive &amp; Prescriptive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5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📊 Descriptive Capabilities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Executive OTIF Bridge: Waterfall visualization categorizing order losses by defect type.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Multi-Timestamp Audit: Tracks 6 milestones (Order Created -&gt; Factory Planned -&gt; Dispatch -&gt; Ocean -&gt; DC -&gt; Delivery).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Order Execution Log: Filterable line-item timeline with visual plan vs actual variance highlighting.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8016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🔮 Predictive Capabilities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Carrier Penalty Risk Scoring: Predicts probability of SLA breach by carrier, lane, and season.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Stockout Risk Forecaster: Early warning indicators for DC safety stock depletion.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SLA Violation Predictor: Flags order lines at risk of late delivery 72 hours prior to dispatch.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28016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⚙️ Prescriptive Capabilities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Order Assignment Profit Engine: Dynamically routes orders to minimize penalties and maximize net margin.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Automated Carrier Optimizer: Balances carrier freight rates against expected penalty risks.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Guardrail Enforcement: Automates policy caps (+50% max order allocation) and backlog auto-loading.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5. High-Level Data Requirements &amp;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6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Order &amp; Product Master Data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Primary Source: ERP (SAP / Oracle)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SKU ID, Category, Description, Bill of Materials (BOM)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Wholesale Price ($/unit), Manufacturing Cost ($/unit)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Order Quantity, Customer Order ID, Order Creation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Customer SLA &amp; Contract Terms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Primary Source: CRM / Contract Repository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Retailer SLA Window (e.g., 2-Day vs 5-Day Delivery)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Late Delivery Penalty Rate ($/day)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Dock Rejection Penalty Rate (% line item value)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Supply Chain Node Timestamps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Primary Source: WMS / TMS / Ocean Carrier APIs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Factory Planned &amp; Actual Production Complete Timestamps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Factory Departure &amp; Ocean Port ETD/ETA Timestamps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DC Inbound Arrival, Pick/Pack &amp; Outbound Dispatch Timestamps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Carrier &amp; Freight Rates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Primary Source: TMS / Logistics Master Data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Freight Rate ($/lane/unit) for FedEx, JB Hunt, Schneider, DHL, UPS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Historical Carrier SLA On-Time Delivery Rate (%)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Historical Package Damage &amp; Dock Rejection Rate (%)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6. High-Level 3-Month Activity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7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MONTH 1: Foundation &amp; Data Integration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1.1: Ingest ERP/TMS data streams for 6 supply chain timestamps.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1.2: Establish Master Data schema across 13 SKUs, 5 categories, and retail clients.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1.3: Deploy Descriptive OTIF Waterfall Bridge &amp; Order Execution Log.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Deliverable: Unified Data Lake &amp; Baseline OTIF Diagnostic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8016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MONTH 2: Predictive Risk &amp; Prescriptive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2.1: Calibrate Carrier SLA audit &amp; penalty risk prediction models.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2.2: Implement Order Assignment Profit Engine with guardrails (+50% cap).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2.3: Integrate future order backlog auto-allocation module.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Deliverable: Fully Configured Profit Optimizer &amp; Risk Scoring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28016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MONTH 3: Automation, Pilot &amp; Full Go-Live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3.1: Pilot automated carrier routing with Tier-1 accounts (Home Depot, Lowe's).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3.2: Deploy barcode &amp; ASN validation scanners at origin plants (Shenzhen/Vietnam).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Milestone 3.3: Conduct user training and executive dashboard rollout across all categories.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Deliverable: Full Go-Live &amp; Expected Net Profit Lift +$1.04M.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DIY CO. OTIF DIAGNOSTIC &amp; STRATEGY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7. Expected Business Value &amp;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DIY Home Improvement Co. | Executive OTIF Strategy | Slide 8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FINANCIAL IMPACT SUMMARY</a:t>
            </a:r>
          </a:p>
          <a:p>
            <a:pPr>
              <a:defRPr sz="3800" b="1">
                <a:solidFill>
                  <a:srgbClr val="16A34A"/>
                </a:solidFill>
              </a:defRPr>
            </a:pPr>
            <a:r>
              <a:t>+$1,040,117.82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+4.2% Net Margin Expansion (43.7% ➔ 45.6%)</a:t>
            </a:r>
            <a:br/>
          </a:p>
          <a:p>
            <a:r>
              <a:rPr sz="1100">
                <a:solidFill>
                  <a:srgbClr val="94A3B8"/>
                </a:solidFill>
              </a:rPr>
              <a:t>Total Net Revenue Base: </a:t>
            </a:r>
            <a:r>
              <a:rPr sz="1100" b="1">
                <a:solidFill>
                  <a:srgbClr val="FFFFFF"/>
                </a:solidFill>
              </a:rPr>
              <a:t>$55,984,370.00</a:t>
            </a:r>
          </a:p>
          <a:p>
            <a:r>
              <a:rPr sz="1100">
                <a:solidFill>
                  <a:srgbClr val="94A3B8"/>
                </a:solidFill>
              </a:rPr>
              <a:t>Baseline Net Operating Profit: </a:t>
            </a:r>
            <a:r>
              <a:rPr sz="1100" b="1">
                <a:solidFill>
                  <a:srgbClr val="FFFFFF"/>
                </a:solidFill>
              </a:rPr>
              <a:t>$24,491,388.08 (43.7%)</a:t>
            </a:r>
          </a:p>
          <a:p>
            <a:r>
              <a:rPr sz="1100">
                <a:solidFill>
                  <a:srgbClr val="94A3B8"/>
                </a:solidFill>
              </a:rPr>
              <a:t>Optimized Net Operating Profit: </a:t>
            </a:r>
            <a:r>
              <a:rPr sz="1100" b="1">
                <a:solidFill>
                  <a:srgbClr val="FFFFFF"/>
                </a:solidFill>
              </a:rPr>
              <a:t>$25,531,505.90 (45.6%)</a:t>
            </a:r>
          </a:p>
          <a:p>
            <a:r>
              <a:rPr sz="1100">
                <a:solidFill>
                  <a:srgbClr val="94A3B8"/>
                </a:solidFill>
              </a:rPr>
              <a:t>Baseline Penalty Fines Loss: </a:t>
            </a:r>
            <a:r>
              <a:rPr sz="1100" b="1">
                <a:solidFill>
                  <a:srgbClr val="FFFFFF"/>
                </a:solidFill>
              </a:rPr>
              <a:t>$634,632.00</a:t>
            </a:r>
          </a:p>
          <a:p>
            <a:r>
              <a:rPr sz="1100">
                <a:solidFill>
                  <a:srgbClr val="94A3B8"/>
                </a:solidFill>
              </a:rPr>
              <a:t>Optimized Penalty Fines Loss: </a:t>
            </a:r>
            <a:r>
              <a:rPr sz="1100" b="1">
                <a:solidFill>
                  <a:srgbClr val="FFFFFF"/>
                </a:solidFill>
              </a:rPr>
              <a:t>$114,233.76 (82% Reduction)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🚀 Executive Call to Action &amp; Next Steps</a:t>
            </a:r>
          </a:p>
          <a:p>
            <a:r>
              <a:rPr sz="1200" b="1">
                <a:solidFill>
                  <a:srgbClr val="0284C7"/>
                </a:solidFill>
              </a:rPr>
              <a:t>• Executive Approval: </a:t>
            </a:r>
            <a:r>
              <a:rPr sz="1200" b="0">
                <a:solidFill>
                  <a:srgbClr val="1E293B"/>
                </a:solidFill>
              </a:rPr>
              <a:t>Approve funding for Phase 1 Data Integration and ERP connector buildout.</a:t>
            </a:r>
          </a:p>
          <a:p>
            <a:r>
              <a:rPr sz="1200" b="1">
                <a:solidFill>
                  <a:srgbClr val="0284C7"/>
                </a:solidFill>
              </a:rPr>
              <a:t>• Logistics Policy Alignment: </a:t>
            </a:r>
            <a:r>
              <a:rPr sz="1200" b="0">
                <a:solidFill>
                  <a:srgbClr val="1E293B"/>
                </a:solidFill>
              </a:rPr>
              <a:t>Formalize the +50% allocation guardrail cap policy across regional distribution centers.</a:t>
            </a:r>
          </a:p>
          <a:p>
            <a:r>
              <a:rPr sz="1200" b="1">
                <a:solidFill>
                  <a:srgbClr val="0284C7"/>
                </a:solidFill>
              </a:rPr>
              <a:t>• Vendor SLA Enforcement: </a:t>
            </a:r>
            <a:r>
              <a:rPr sz="1200" b="0">
                <a:solidFill>
                  <a:srgbClr val="1E293B"/>
                </a:solidFill>
              </a:rPr>
              <a:t>Institute barcode verification protocols at Shenzhen and Vietnam manufacturing plants.</a:t>
            </a:r>
          </a:p>
          <a:p>
            <a:r>
              <a:rPr sz="1200" b="1">
                <a:solidFill>
                  <a:srgbClr val="0284C7"/>
                </a:solidFill>
              </a:rPr>
              <a:t>• Pilot Launch: </a:t>
            </a:r>
            <a:r>
              <a:rPr sz="1200" b="0">
                <a:solidFill>
                  <a:srgbClr val="1E293B"/>
                </a:solidFill>
              </a:rPr>
              <a:t>Initiate Month 1 pilot with Home Depot and Lowe's accounts.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