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DIY CO. OTIF DIAGNOSTIC &amp; PROFIT OPTIMIZATION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Executive Summary &amp; Operational Action Plan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End-to-End Diagnostic Suite • Multi-Timestamp SLA Audit • Order Assignment Profit Optimizer • 13 SKU Catalog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EXECUTIVE SUMMARY DECK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1. Executive Summary &amp; Diagnostic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Business Challenge &amp; Context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Fulfillment OTIF rate dropped to 48.2% across core retail accounts.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Retailer chargebacks &amp; carrier penalties exceeded $634K annually.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Major accounts impacted: The Home Depot, Lowe's, Menards, Kingfisher, Grainger, Fastenal, Bechtel.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• Diagnostic objective: Identify root-cause bottlenecks and quantify net margin recovery potential.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Diagnostic Tooling &amp; Capabilities</a:t>
            </a:r>
          </a:p>
          <a:p>
            <a:pPr>
              <a:defRPr sz="1300">
                <a:solidFill>
                  <a:srgbClr val="0284C7"/>
                </a:solidFill>
              </a:defRPr>
            </a:pPr>
            <a:r>
              <a:t>✔  Executive OTIF Summary &amp; Waterfall Bridge Analysis</a:t>
            </a:r>
          </a:p>
          <a:p>
            <a:pPr>
              <a:defRPr sz="1300">
                <a:solidFill>
                  <a:srgbClr val="0284C7"/>
                </a:solidFill>
              </a:defRPr>
            </a:pPr>
            <a:r>
              <a:t>✔  Multi-Timestamp Node SLA Audit Trail (6 Milestones)</a:t>
            </a:r>
          </a:p>
          <a:p>
            <a:pPr>
              <a:defRPr sz="1300">
                <a:solidFill>
                  <a:srgbClr val="0284C7"/>
                </a:solidFill>
              </a:defRPr>
            </a:pPr>
            <a:r>
              <a:t>✔  Carrier Assignment &amp; Penalty Risk Optimizer</a:t>
            </a:r>
          </a:p>
          <a:p>
            <a:pPr>
              <a:defRPr sz="1300">
                <a:solidFill>
                  <a:srgbClr val="0284C7"/>
                </a:solidFill>
              </a:defRPr>
            </a:pPr>
            <a:r>
              <a:t>✔  Order Assignment &amp; Net Margin Engine (Backlog + Guardrails)</a:t>
            </a:r>
          </a:p>
          <a:p>
            <a:pPr>
              <a:defRPr sz="1300">
                <a:solidFill>
                  <a:srgbClr val="0284C7"/>
                </a:solidFill>
              </a:defRPr>
            </a:pPr>
            <a:r>
              <a:t>✔  Timeline Execution Log in Order Book Explorer</a:t>
            </a:r>
          </a:p>
          <a:p>
            <a:pPr>
              <a:defRPr sz="1300">
                <a:solidFill>
                  <a:srgbClr val="0284C7"/>
                </a:solidFill>
              </a:defRPr>
            </a:pPr>
            <a:r>
              <a:t>✔  Scaled Dataset: 800 Order Lines across 13 SKUs &amp; 5 Categories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EXECUTIVE SUMMARY DECK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2. OTIF Waterfall Diagnostics &amp; Root-Cause Failure Drivers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3200" b="1">
                <a:solidFill>
                  <a:srgbClr val="DC2626"/>
                </a:solidFill>
              </a:defRPr>
            </a:pPr>
            <a:r>
              <a:t>42.1%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Customer Dock Rejection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Damage &amp; Barcode/ASN Mismatch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371600"/>
            <a:ext cx="256032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3200" b="1">
                <a:solidFill>
                  <a:srgbClr val="DC2626"/>
                </a:solidFill>
              </a:defRPr>
            </a:pPr>
            <a:r>
              <a:t>34.8%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Logistics SLA Delay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Carrier Transit Window Failures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256032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3200" b="1">
                <a:solidFill>
                  <a:srgbClr val="0284C7"/>
                </a:solidFill>
              </a:defRPr>
            </a:pPr>
            <a:r>
              <a:t>14.6%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DC Inventory Stockout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Safety Stock Allocation Deficits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371600"/>
            <a:ext cx="256032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82880"/>
          <a:lstStyle/>
          <a:p>
            <a:pPr algn="ctr">
              <a:defRPr sz="3200" b="1">
                <a:solidFill>
                  <a:srgbClr val="0F172A"/>
                </a:solidFill>
              </a:defRPr>
            </a:pPr>
            <a:r>
              <a:t>8.5%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Factory Lead Time Overrun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Tier-1 Component Lead Delays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657600"/>
            <a:ext cx="1069848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Major Customer Penalty Exposure Summary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The Home Depot (US East / West): $245,200 penalty loss • 2-day delivery SLA window • High penalty rate ($450/day + 15% reject fine)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Lowe's Companies (US East): $182,400 penalty loss • 2-day delivery SLA window • Barcode mismatch on dock arrival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Kingfisher Group (EU): $112,850 penalty loss • 3-day EU gateway SLA window • Transit damage on ocean containers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Industrial Accounts (Grainger, Fastenal, Bechtel): $94,182 penalty loss • 4-5 day SLA window • Carrier route delays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EXECUTIVE SUMMARY DECK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3. Order Assignment &amp; Net Profit Margin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Optimization Rules &amp; Guardrails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✔ Flexible SKU Line Items: Choose any SKU from the order catalog.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✔ SLA Auto-Population: Customer SLA delivery date auto-populates upon customer selection.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✔ Future Order Backlog Integration: Pre-loads future backlog orders into optimizer.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✔ Fulfillment Policy Caps: Enforces max +50% allocation guardrails beyond order requirements.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✔ Path Evaluation: Evaluates Shenzhen vs Vietnam factories, Atlanta/Inland/Rotterdam DCs, and dedicated carriers.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sz="1200" b="1">
                <a:solidFill>
                  <a:srgbClr val="0284C7"/>
                </a:solidFill>
              </a:defRPr>
            </a:pPr>
            <a:r>
              <a:t>TOTAL PORTFOLIO PROFIT LIFT</a:t>
            </a:r>
          </a:p>
          <a:p>
            <a:pPr>
              <a:defRPr sz="4000" b="1">
                <a:solidFill>
                  <a:srgbClr val="16A34A"/>
                </a:solidFill>
              </a:defRPr>
            </a:pPr>
            <a:r>
              <a:t>+$1,040,117.82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+4.2% Net Margin Expansion (43.7% ➔ 45.6%)</a:t>
            </a:r>
          </a:p>
          <a:p/>
          <a:p>
            <a:pPr>
              <a:defRPr sz="1200">
                <a:solidFill>
                  <a:srgbClr val="CBD5E1"/>
                </a:solidFill>
              </a:defRPr>
            </a:pPr>
            <a:r>
              <a:t>Total Revenue Base: $55,984,370.00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Manufacturing Cost: $24,361,855.20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Freight Shipping Cost: $6,496,494.72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Baseline Penalties Loss: $634,632.00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Optimized Penalty Loss: $114,233.76 (82% Reduction)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EXECUTIVE SUMMARY DECK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4. Strategic Recommendations &amp; Implementation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500" b="1">
                <a:solidFill>
                  <a:srgbClr val="16A34A"/>
                </a:solidFill>
              </a:defRPr>
            </a:pPr>
            <a:r>
              <a:t>1. Automate Expedited Carrier Routing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Direct high-penalty Tier-1 retail shipments through dedicated express freight carriers (FedEx, JB Hunt) to eradicate 82% of late delivery penalties.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69848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2. Origin ASN &amp; Barcode Scanning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Deploy automated barcode scanners and packaging checks at Shenzhen and Vietnam plants to prevent dock rejection chargebacks.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1069848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3. Dynamic Backlog Allocation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Integrate the Order Assignment Engine with ERP order entry to dynamically assign factory-DC paths within +50% guardrail caps.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74920"/>
            <a:ext cx="1069848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500" b="1">
                <a:solidFill>
                  <a:srgbClr val="1E293B"/>
                </a:solidFill>
              </a:defRPr>
            </a:pPr>
            <a:r>
              <a:t>4. Multi-Tier Supplier SLA Monitoring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Track component suppliers (Osaka Lithium, Taiwan Gear, Ningbo Motor) to resolve upstream component bottlenecks early.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